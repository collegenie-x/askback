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2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9A6C4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A9A6C4"/>
                </a:solidFill>
                <a:latin typeface="Malgun Gothic"/>
              </a:rPr>
              <a:t>억 원 / 년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 매출 규모(억 원)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</c:v>
                  </c:pt>
                  <c:pt idx="1">
                    <c:v>SAM</c:v>
                  </c:pt>
                  <c:pt idx="2">
                    <c:v>SOM · 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3090</c:v>
                </c:pt>
                <c:pt idx="1">
                  <c:v>2100</c:v>
                </c:pt>
                <c:pt idx="2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C2C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A6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630"/>
        </a:solidFill>
        <a:ln>
          <a:noFill/>
        </a:ln>
        <a:effectLst/>
      </c:spPr>
    </c:plotArea>
    <c:plotVisOnly val="1"/>
    <c:dispBlanksAs val="span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9A6C4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A9A6C4"/>
                </a:solidFill>
                <a:latin typeface="Malgun Gothic"/>
              </a:rPr>
              <a:t>연 매출 (억 원 · 추정)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 매출 (억 원, 추정)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1년차</c:v>
                  </c:pt>
                  <c:pt idx="1">
                    <c:v>2년차</c:v>
                  </c:pt>
                  <c:pt idx="2">
                    <c:v>3년차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9.6</c:v>
                </c:pt>
                <c:pt idx="2">
                  <c:v>37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C2C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A6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630"/>
        </a:solidFill>
        <a:ln>
          <a:noFill/>
        </a:ln>
        <a:effectLst/>
      </c:spPr>
    </c:plotArea>
    <c:plotVisOnly val="1"/>
    <c:dispBlanksAs val="span"/>
  </c:chart>
  <c:spPr>
    <a:solidFill>
      <a:srgbClr val="1616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-365760"/>
            <a:ext cx="7315200" cy="7315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70000"/>
            </a:srgbClr>
          </a:solidFill>
          <a:ln w="12700">
            <a:solidFill>
              <a:srgbClr val="07071A"/>
            </a:solidFill>
            <a:prstDash val="solid"/>
          </a:ln>
        </p:spPr>
      </p:sp>
      <p:pic>
        <p:nvPicPr>
          <p:cNvPr id="4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822960" cy="822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691640" y="868680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1D1D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691640" y="868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사업 제안서 · 청소년 AI 프로젝트 코치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17373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</a:t>
            </a:r>
            <a:endParaRPr lang="en-US" sz="8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코드보다 설계 먼저.</a:t>
            </a:r>
            <a:endParaRPr lang="en-US" sz="36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끝까지 받고,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질문하는 법은 코칭받는다.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묻고 → 되묻고 → 내 말로 채운 기획서.md · 10문 리포트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askback-omega.vercel.app · 2026.09 · 사업계획서 v4 기준</a:t>
            </a:r>
            <a:endParaRPr lang="en-US" sz="1100" dirty="0"/>
          </a:p>
        </p:txBody>
      </p:sp>
      <p:pic>
        <p:nvPicPr>
          <p:cNvPr id="12" name="Image 2" descr="img/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29700"/>
            <a:ext cx="4572000" cy="48900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한 장 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— 한 장 요약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묻고, 되묻고, 기획서를 남기는 청소년 AI 프로젝트 코치 · 사업계획서 v4(2026-09-21) · 시장 수치는 공개 자료 기반 추정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7840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중·고생 3명 중 2명이 생성형 AI를 쓴다. 바이브 코딩으로 중학생도 앱과 장치를 "만들어 내지만", 왜 돌아가는지·무엇을 만들려던 건지 말하지 못한다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2026 수행평가 AI 지침 — 도구·프롬프트·개발 과정 표기 의무  ② 코딩 도구는 넘치지만 그 도구에 넣을 설계를 같이 만들어 주는 청소년용 도구는 없다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 형식 → 코드 대신 명세로 주는 최선의 답 → 모든 답 끝의 열린 되묻기 + 2문 1역 역질문 → 학생이 자기 말로 채우는 기획서.md → 질문 10개마다 8칸 리포트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차별점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챗봇은 답을 주고, 튜터는 답을 아끼고, 교실 플랫폼은 감시하고, 코딩 도구는 만들어 준다. 답을 다 주면서 · 판단은 학생에게 · 설계를 문서로 · 질문 습관을 돌려주는 도구는 없다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1차 프로젝트를 하는 중학생 + 지도교사 → 2차 특성화고·일반고 수행평가 → 3차 학부모 B2C · 메이커스페이스 · 코딩 학원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 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학교·기관 라이선스(학생당 연 과금) + 개인 구독(라이트 월 9,900원 · 프로 월 19,900원, 가정) + B2B2C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있는 것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 웹 프로토타입 — 다섯 형식 · 2문 1역 · 8칸 리포트 · 월간 · 사진/음성 · .md 내보내기 · 예시 프로젝트 6개 · 로컬 엔진 + Claude 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12주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· 서버 저장 · 개인정보 · 비용 기록 → 한 학급 파일럿 → 초안 완성률 · 되묻기 이어받기 · O3+O4 비율로 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 · 목차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장으로 말합니다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→ 문제 → 해결책 → 고객·시장 → 차별점 → 비즈니스 모델과 실행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53212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동기와 문제 제기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5786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몰래 쓰는 AI · 화이트보드 검문 · 인지적 부채 · 교실의 여덟 장면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553212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121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해결해야 할 것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57860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아이디어와 코딩 도구 사이 텅 빈 한 칸 · 2026 지침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53212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66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584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— AskBack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041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마디 · 다섯 정거장 · 되묻기 두 겹 · 다섯 형식 · 기획서 · 리포트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383280"/>
            <a:ext cx="553212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566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35844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고객과 시장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04164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페르소나 · 자유학기 8차시 · 왜 지금 · TAM/SAM/SOM · 사용 공간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553212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029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1645920" y="5047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경쟁과 차별점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5504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부류 · 기능 비교 · 포지셔닝 · 일곱 차별점 · 방어력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846320"/>
            <a:ext cx="553212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50292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047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모델과 실행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504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· 원가 · 3개년 · 진입 · 로드맵 · 검증 · 리스크 · 자원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65760"/>
            <a:ext cx="6035040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65000"/>
            </a:srgbClr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동기와 문제 제기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학생들은 이미 AI를 씁니다 — 다만 몰래. 만드는 건 쉬워졌고, 설계는 증발했습니다.</a:t>
            </a:r>
            <a:endParaRPr lang="en-US" sz="1600" dirty="0"/>
          </a:p>
        </p:txBody>
      </p:sp>
      <p:pic>
        <p:nvPicPr>
          <p:cNvPr id="7" name="Image 1" descr="img/secr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61711"/>
            <a:ext cx="3931920" cy="23345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동기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AI, 몰래 쓰지 마세요. 설명할 수 있으면, 당당하게.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금지와 허용으로만 나누면 쓰고도 말을 못 하고, 선생님은 의심만 남습니다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57784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secr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53" y="2103120"/>
            <a:ext cx="4928135" cy="2926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🤫 지금 — 몰래 쓰는 AI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486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썼다고 말하면 의심받는다 — 그래서 숨긴다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"AI를 썼다"는 걸 떳떳하게 말할 기준이 없다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결과물은 있는데 '출처' 칸은 비어 있다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309360" y="1920240"/>
            <a:ext cx="5394960" cy="2011680"/>
          </a:xfrm>
          <a:prstGeom prst="roundRect">
            <a:avLst>
              <a:gd name="adj" fmla="val 7273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103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67.9%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761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중·고생의 생성형 AI 사용 경험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21488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 중 2명이 이미 쓴다. 쓰면 의심받고, 안 쓰면 뒤처지고, 잘 쓰는 법은 아무도 가르쳐 주지 않는다. 그래서 아이들은 복붙하고, 지우고, 들키지 않는 법만 배운다.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4114800"/>
            <a:ext cx="539496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메타인지의 착시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명쾌한 답을 받으면 자신이 이해했다고 착각한다. 결과물은 늘었지만, 설명할 수 있는 학생은 늘지 않았다. 문제는 "AI를 쓴다"가 아니라 그 앞의 빈칸 — 학생의 판단과 기록이 비어 있는 것이다.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동기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온 답 — 특성화고의 '화이트보드 검문'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만들어 와도 괜찮다. 대신 그 자리에서 순서도를 그리고, 핵심을 짚고, 차별점을 직접 말한다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676656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boar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22695"/>
            <a:ext cx="6400800" cy="369276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98080" y="1920240"/>
            <a:ext cx="4206240" cy="4297680"/>
          </a:xfrm>
          <a:prstGeom prst="roundRect">
            <a:avLst>
              <a:gd name="adj" fmla="val 3478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되어야 "AI를 썼다"가 인정됩니다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514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설명할 수 있는 만큼만.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26680" y="3017520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1D1D3A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3017520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순서도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30175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닫고, 순서도를 그려 보세요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26680" y="3584448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1D1D3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35844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핵심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915400" y="35844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곳에 동그라미. 왜 거기예요?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26680" y="4151376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1D1D3A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63840" y="4151376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차별점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915400" y="415137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곳은? 고치기 전엔 어땠어요?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726680" y="4718304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1D1D3A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0" y="4718304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실패 조건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915400" y="471830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언제 안 돌아가요?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26680" y="53492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시간입니다. 한 명씩 검문하면 한 반에 2시간. 그래서 AskBack은 이 검문을 가끔 치르는 시험이 아니라, 매일의 대화 안에 넣었습니다.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동기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 묻던 네 가지를, 앱이 대신 묻습니다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두 번마다 5~30초. 네 관문을 지나면 도장이 찍힙니다 — 한 반 2시간의 검문이 매일의 5초로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97480" cy="434340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1/4 · 순서도</a:t>
            </a:r>
            <a:endParaRPr lang="en-US" sz="1400" dirty="0"/>
          </a:p>
        </p:txBody>
      </p:sp>
      <p:pic>
        <p:nvPicPr>
          <p:cNvPr id="11" name="Image 0" descr="img/boar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423160"/>
            <a:ext cx="2377440" cy="1371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👩‍🏫 선생님은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“화면 닫고, 순서도를 그려 보세요.”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AskBack은 매일, 대화 속에서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“센서값이 380이 들어왔어. 네 순서도에서 어느 상자를 지나가?”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715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증명되는 것 · 구조를 머릿속에 갖고 있다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91840" y="1920240"/>
            <a:ext cx="2697480" cy="434340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7472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2/4 · 핵심</a:t>
            </a:r>
            <a:endParaRPr lang="en-US" sz="1400" dirty="0"/>
          </a:p>
        </p:txBody>
      </p:sp>
      <p:pic>
        <p:nvPicPr>
          <p:cNvPr id="19" name="Image 1" descr="img/boar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423160"/>
            <a:ext cx="2377440" cy="1371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47472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👩‍🏫 선생님은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347472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“핵심 한 곳에 동그라미. 왜 거기예요?”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347472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AskBack은 매일, 대화 속에서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347472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규칙에서 한 줄만 남긴다면 어느 줄이야? 왜?”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3474720" y="5715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증명되는 것 · 무엇이 중요한지 판단했다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126480" y="1920240"/>
            <a:ext cx="2697480" cy="434340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30936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3/4 · 차별점</a:t>
            </a:r>
            <a:endParaRPr lang="en-US" sz="1400" dirty="0"/>
          </a:p>
        </p:txBody>
      </p:sp>
      <p:pic>
        <p:nvPicPr>
          <p:cNvPr id="27" name="Image 2" descr="img/board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23160"/>
            <a:ext cx="2377440" cy="1371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30936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👩‍🏫 선생님은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630936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곳은? 고치기 전엔 어땠어요?”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630936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AskBack은 매일, 대화 속에서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630936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“타이머로 3초 주는 것과 뭐가 달라? 네 방식이 나은 점을 한 문장으로.”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6309360" y="5715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증명되는 것 · 대안을 비교하고 골랐다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8961120" y="1920240"/>
            <a:ext cx="2697480" cy="434340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14400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4/4 · 실패 조건</a:t>
            </a:r>
            <a:endParaRPr lang="en-US" sz="1400" dirty="0"/>
          </a:p>
        </p:txBody>
      </p:sp>
      <p:pic>
        <p:nvPicPr>
          <p:cNvPr id="35" name="Image 3" descr="img/board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0" y="2423160"/>
            <a:ext cx="2377440" cy="137160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1440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👩‍🏫 선생님은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9144000" y="4114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“이거 언제 안 돌아가요?”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9144000" y="4663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AskBack은 매일, 대화 속에서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914400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“센서가 빠져서 0이 되면 화분에 어떤 일이 벌어질까?”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9144000" y="5715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증명되는 것 · 시스템 전체를 본다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제기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뚝딱 만들지만, 기획과 설계는 증발했습니다.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 이후 — 만드는 건 쉬워졌고 설계는 그대로. 문제는 "AI를 쓴다"가 아니라 그 앞의 빈칸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53212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mira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" y="2103120"/>
            <a:ext cx="4876800" cy="2743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✨ AI 시대의 기적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마디면 화면이 나옵니다. 만드는 비용은 0에 가까워졌습니다. 중학생도 앱과 장치를 "만들어 냅니다."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17920" y="1920240"/>
            <a:ext cx="553212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FB7185"/>
            </a:solidFill>
            <a:prstDash val="solid"/>
          </a:ln>
        </p:spPr>
      </p:sp>
      <p:pic>
        <p:nvPicPr>
          <p:cNvPr id="14" name="Image 1" descr="img/deb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5580" y="2103120"/>
            <a:ext cx="4876800" cy="2743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92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인지적 부채 (Cognitive Debt)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49224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왜 만들었는지 설명할 수 없습니다. "센서가 빠지면 어떻게 되나요?"에 답이 없습니다. 만드는 속도는 빨라졌고 설계하는 힘은 그대로입니다.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제기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교실에서 되풀이되는 여덟 장면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장면마다 비어 있는 것과, 그 칸을 채우는 AskBack의 장치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sc_co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01969"/>
            <a:ext cx="1051560" cy="6046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3736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베낀 숫자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"400 밑이면" — 예제에서 베낀 숫자를 AI는 그대로 만들어 준다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"그 400은 어디서 왔어?" → 직접 재 온다 (320 · 610)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91840" y="187452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5" name="Image 1" descr="img/sc_bom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001969"/>
            <a:ext cx="1051560" cy="6046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폭탄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"앱 만들어줘" → 기능 10개가 쏟아진다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42900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체크 칸 4개 · "일부러 안 만들 기능 하나는?"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26480" y="187452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20" name="Image 2" descr="img/sc_m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01969"/>
            <a:ext cx="1051560" cy="6046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40664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설명을 못 한다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6364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코드는 돈다. "센서가 빠지면?"엔 답이 없다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상태표 · 순서도로 답 + 🧭 "값이 계속 0이면?"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8961120" y="187452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25" name="Image 3" descr="img/sc_re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001969"/>
            <a:ext cx="1051560" cy="60463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24128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다시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098280" y="2743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안 되면 "다시 만들어줘". 어디가 틀렸는지 모른다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9098280" y="33375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모든 답에 "확인하는 법" · 한 단씩 붙이기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57200" y="411480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30" name="Image 4" descr="img/sc_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42249"/>
            <a:ext cx="1051560" cy="60463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737360" y="4251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= AI 붙이기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594360" y="4983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뭐든 AI · 서버부터 붙이려 한다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594360" y="5577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"3명 이상이면 확정" 같은 규칙 먼저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291840" y="411480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35" name="Image 5" descr="img/sc_ju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4242249"/>
            <a:ext cx="1051560" cy="604638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572000" y="4251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대신 정한다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3429000" y="4983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목표 · 기준 · 선택까지 추천을 그대로 받는다</a:t>
            </a:r>
            <a:endParaRPr lang="en-US" sz="950" dirty="0"/>
          </a:p>
        </p:txBody>
      </p:sp>
      <p:sp>
        <p:nvSpPr>
          <p:cNvPr id="38" name="Text 30"/>
          <p:cNvSpPr txBox="1"/>
          <p:nvPr/>
        </p:nvSpPr>
        <p:spPr>
          <a:xfrm>
            <a:off x="3429000" y="5577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🫵 네가 정할 것 · 📌 AI가 가정한 것을 나눠 보여 준다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6126480" y="411480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40" name="Image 6" descr="img/sc_nodo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242249"/>
            <a:ext cx="1051560" cy="604638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7406640" y="4251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문서가 없다</a:t>
            </a:r>
            <a:endParaRPr lang="en-US" sz="1200" dirty="0"/>
          </a:p>
        </p:txBody>
      </p:sp>
      <p:sp>
        <p:nvSpPr>
          <p:cNvPr id="42" name="Text 33"/>
          <p:cNvSpPr txBox="1"/>
          <p:nvPr/>
        </p:nvSpPr>
        <p:spPr>
          <a:xfrm>
            <a:off x="6263640" y="4983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대화창만 남는다. 수행평가에 쓸 것이 없다</a:t>
            </a:r>
            <a:endParaRPr lang="en-US" sz="950" dirty="0"/>
          </a:p>
        </p:txBody>
      </p:sp>
      <p:sp>
        <p:nvSpPr>
          <p:cNvPr id="43" name="Text 34"/>
          <p:cNvSpPr txBox="1"/>
          <p:nvPr/>
        </p:nvSpPr>
        <p:spPr>
          <a:xfrm>
            <a:off x="6263640" y="5577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✅ 초안에 적기 → 기획서.md · 전체 기록.md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8961120" y="4114800"/>
            <a:ext cx="26974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45" name="Image 7" descr="img/sc_cl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8280" y="4242249"/>
            <a:ext cx="1051560" cy="60463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0241280" y="4251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거울이 늦다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9098280" y="498348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학기 말 평가로는 질문 습관을 못 고친다</a:t>
            </a:r>
            <a:endParaRPr lang="en-US" sz="950" dirty="0"/>
          </a:p>
        </p:txBody>
      </p:sp>
      <p:sp>
        <p:nvSpPr>
          <p:cNvPr id="48" name="Text 38"/>
          <p:cNvSpPr txBox="1"/>
          <p:nvPr/>
        </p:nvSpPr>
        <p:spPr>
          <a:xfrm>
            <a:off x="9098280" y="55778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질문 10개마다 8칸 리포트 · 미션 하나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문제 제기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기존 도구로는 안 되는가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가지 시도와 막히는 곳 — 그리고 AskBack이 가져가는 한 가지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296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막히는 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챗봇을 그냥 쓴다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시킨 대로 만든다. 베낀 숫자 · 빠진 기준을 묻지 않는다. 기록은 대화창에 흩어진다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챗봇의 학습 모드를 켠다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학생이 스스로 켜야 하고 급하면 끈다. 답을 아껴서 프로젝트가 멈춘다. 리포트 · 산출물이 없다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교사가 프롬프트 양식을 나눠 준다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양식은 채우지만 대화가 이어지지 않는다. 30명의 양식을 읽을 시간이 없다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바이브 코딩 도구의 계획 기능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어른 개발자용이다. 계획을 AI가 써 준다. 학생의 말로 남지 않고, 코딩 밖 프로젝트에는 못 쓴다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탐지기 · 사용 금지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집에서 쓴다. 숨기는 기술만 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종이 순서도 검문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효과는 확실하다. 다만 교사 한 명이 한 반에 2시간 — 매일은 못 한다 → AskBack이 이것을 매일의 5초로 만든다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65760"/>
            <a:ext cx="6035040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65000"/>
            </a:srgbClr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해결해야 할 것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아이디어와 코딩 도구 사이, 텅 빈 한 칸. 코드는 다른 도구가 뽑습니다 — 그 도구에 넣을 설계도가 없습니다.</a:t>
            </a:r>
            <a:endParaRPr lang="en-US" sz="1600" dirty="0"/>
          </a:p>
        </p:txBody>
      </p:sp>
      <p:pic>
        <p:nvPicPr>
          <p:cNvPr id="7" name="Image 1" descr="img/rule_sp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51126"/>
            <a:ext cx="3931920" cy="25557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해결해야 할 것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아이디어와 코딩 도구 사이, 텅 빈 한 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다른 도구가 뽑습니다. AskBack은 그 도구에 넣을 '설계도'를 학생 스스로 만들게 하는 AI 코치입니다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1247120" cy="3566160"/>
          </a:xfrm>
          <a:prstGeom prst="roundRect">
            <a:avLst>
              <a:gd name="adj" fmla="val 4103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98548"/>
            <a:ext cx="10698480" cy="32095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5623560"/>
            <a:ext cx="3657600" cy="685800"/>
          </a:xfrm>
          <a:prstGeom prst="roundRect">
            <a:avLst>
              <a:gd name="adj" fmla="val 21333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623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5623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여기를 AI가 대신 채우거나, 아무도 채우지 않습니다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51960" y="5623560"/>
            <a:ext cx="3657600" cy="685800"/>
          </a:xfrm>
          <a:prstGeom prst="roundRect">
            <a:avLst>
              <a:gd name="adj" fmla="val 21333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34840" y="5623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5623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칸을 학생의 말로 채우게 하고, 기획서.md로 남깁니다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46720" y="5623560"/>
            <a:ext cx="3657600" cy="685800"/>
          </a:xfrm>
          <a:prstGeom prst="roundRect">
            <a:avLst>
              <a:gd name="adj" fmla="val 21333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56235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도구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56235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 · Claude Code · Replit은 경쟁자가 아니라 뒷단 — 기획서가 그 도구들의 입력값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해결해야 할 것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칸에 들어가야 하는 세 가지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"설계"라도 세 축이 채워져야 학생이 설명할 수 있습니다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기획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무엇을 왜 바꾸는지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“이건 ___의 ___ 문제를 풀어”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· 기준 · 선택은 AI가 정하지 않는다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5196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알고리즘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순서와 규칙으로 돌아가는지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26280" y="342900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“___가 들어오면 → ___를 확인해서 → ___한다”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카드 · 상태표 · 순서도로 답한다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전체 구조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무엇과 어떻게 이어지는지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21040" y="3429000"/>
            <a:ext cx="3108960" cy="822960"/>
          </a:xfrm>
          <a:prstGeom prst="roundRect">
            <a:avLst>
              <a:gd name="adj" fmla="val 11111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· 화면 · 목차 · 컷이 이어진 그림 한 장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형식마다 구조의 뜻이 다르다 — 다섯 형식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해결해야 할 것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제도가 연 문 — 2026 수행평가 AI 활용 지침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양식은 있는데, 무엇으로 증빙할지는 막막합니다. AskBack은 이 숙제를 "평소처럼 묻기만 해도" 풀리게 합니다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53212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MANDATE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2026 수행평가 AI 활용 지침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쓰면 표기해야 하는 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554480" cy="365760"/>
          </a:xfrm>
          <a:prstGeom prst="roundRect">
            <a:avLst>
              <a:gd name="adj" fmla="val 42500"/>
            </a:avLst>
          </a:prstGeom>
          <a:solidFill>
            <a:srgbClr val="1D1D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3291840"/>
            <a:ext cx="1554480" cy="365760"/>
          </a:xfrm>
          <a:prstGeom prst="roundRect">
            <a:avLst>
              <a:gd name="adj" fmla="val 42500"/>
            </a:avLst>
          </a:prstGeom>
          <a:solidFill>
            <a:srgbClr val="1D1D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774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3291840"/>
            <a:ext cx="1554480" cy="365760"/>
          </a:xfrm>
          <a:prstGeom prst="roundRect">
            <a:avLst>
              <a:gd name="adj" fmla="val 42500"/>
            </a:avLst>
          </a:prstGeom>
          <a:solidFill>
            <a:srgbClr val="1D1D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개발 과정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40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금지와 탐지(2024)는 답이 아니었습니다 — AI 탐지기 오탐 · 억울한 의심 · 몰래 쓰기. 2026년의 방향은 기록과 증명입니다. 방향은 맞는데, 학생의 프롬프트를 기록하고 돌아보게 돕는 도구가 없습니다. 이것이 출발점입니다.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920240"/>
            <a:ext cx="553212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ASKBACK SOLUTION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평소처럼 묻기만 해도 기록이 쌓입니다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92240" y="3017520"/>
            <a:ext cx="4983480" cy="896112"/>
          </a:xfrm>
          <a:prstGeom prst="roundRect">
            <a:avLst>
              <a:gd name="adj" fmla="val 10204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30906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전체 기록.md 자동 생성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4015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궤적 · 되물음에 한 답 · 내가 정한 것 · AI가 가정한 것 — 프롬프트 개발 과정이 그대로 증빙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4023360"/>
            <a:ext cx="4983480" cy="896112"/>
          </a:xfrm>
          <a:prstGeom prst="roundRect">
            <a:avLst>
              <a:gd name="adj" fmla="val 10204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4096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결과 중심 → 과정 중심 평가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407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10문 리포트 · 월간 요약 · 첫 리포트와 지금 — 교사는 헤더의 🧩 n/4와 리포트만 본다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5029200"/>
            <a:ext cx="4983480" cy="896112"/>
          </a:xfrm>
          <a:prstGeom prst="roundRect">
            <a:avLst>
              <a:gd name="adj" fmla="val 10204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51023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 AI 활용 기록서 양식 (W2)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54132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기록.md → 수행평가 제출 양식으로. 학생 소유 · 교사는 요약만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65760"/>
            <a:ext cx="6035040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65000"/>
            </a:srgbClr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— AskBack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묻는다 → 되물음에 답한다 → 적는다. 답은 끝까지 주고, 설계는 학생이 합니다.</a:t>
            </a:r>
            <a:endParaRPr lang="en-US" sz="1600" dirty="0"/>
          </a:p>
        </p:txBody>
      </p:sp>
      <p:pic>
        <p:nvPicPr>
          <p:cNvPr id="7" name="Image 1" descr="img/orb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3931920" cy="3931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법은 세 마디면 됩니다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묻는다 → 되물음에 답한다 → 적는다. 따로 정리할 필요 없이, 평소처럼 질문하면 같이 쌓입니다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1247120" cy="2834640"/>
          </a:xfrm>
          <a:prstGeom prst="roundRect">
            <a:avLst>
              <a:gd name="adj" fmla="val 5161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th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942" y="2011680"/>
            <a:ext cx="8035636" cy="2651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489204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묻는다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폭이든 평소처럼. "코드 짜줘"로 시작해도 괜찮다. 글 · 📷 사진 3장 · 🎙 말로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489204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되물음에 답한다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끝의 되물음에 직접 재 온 값 · 내 기준으로 답한다. 대화가 티키타카가 된다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489204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적는다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마음을 정했으면 ✅ 초안에 적기 — 내 말로 한두 줄. 🧩 1/4 → 4/4, 기획서.md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961120" y="489204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0" y="4983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도구에 붙여넣는다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⬇️ 초안.md를 Cursor · Claude Code · Replit · 영상 · 문서 도구에. 써 보고 터진 문제는 다시 질문으로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정거장을 돌면, 가운데에서 리포트가 뜹니다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정거장마다 어디를 누르고 · 무엇을 하고 · 무엇이 남는지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pic>
        <p:nvPicPr>
          <p:cNvPr id="9" name="Image 0" descr="img/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0"/>
            <a:ext cx="4572000" cy="4572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1828800"/>
            <a:ext cx="6583680" cy="676656"/>
          </a:xfrm>
          <a:prstGeom prst="roundRect">
            <a:avLst>
              <a:gd name="adj" fmla="val 21622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0" y="1920240"/>
            <a:ext cx="54864" cy="493776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0" y="187452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1 형식 선택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187452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새 프로젝트 → 논문 · 리서치 · 캠페인 · 서비스 · 제품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187452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 · 빈 체크 칸 4개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120640" y="2578608"/>
            <a:ext cx="6583680" cy="676656"/>
          </a:xfrm>
          <a:prstGeom prst="roundRect">
            <a:avLst>
              <a:gd name="adj" fmla="val 21622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2670048"/>
            <a:ext cx="54864" cy="4937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0" y="2624328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2 질문 입력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2624328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 · 사진 3장 · 말로. 뭘 물을지 모르겠으면 💡 트레이의 질문 초안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0" y="26243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폭 O1~O5 · AI 역할 배지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120640" y="3328416"/>
            <a:ext cx="6583680" cy="676656"/>
          </a:xfrm>
          <a:prstGeom prst="roundRect">
            <a:avLst>
              <a:gd name="adj" fmla="val 21622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0" y="3419856"/>
            <a:ext cx="54864" cy="4937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303520" y="3374136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3 최선의 명세 + 🙋 되묻기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3374136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카드 · 상태표 · 순서도 · 비교표로 바로 답. 🫵 네가 정할 것 · 📌 AI가 가정한 것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0195560" y="3374136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숫자 — 마른 흙 320 · 젖은 흙 610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120640" y="4078224"/>
            <a:ext cx="6583680" cy="676656"/>
          </a:xfrm>
          <a:prstGeom prst="roundRect">
            <a:avLst>
              <a:gd name="adj" fmla="val 21622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20640" y="4169664"/>
            <a:ext cx="54864" cy="4937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03520" y="4123944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4 이해의 확인 · 2문 1역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406640" y="4123944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물으면 한 번, 알고리즘을 진짜 아는지. 힌트 3단 · [나중에] · 물을 게 없으면 묻지 않는다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195560" y="4123944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기록 (학생에겐 색으로만)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120640" y="4828032"/>
            <a:ext cx="6583680" cy="676656"/>
          </a:xfrm>
          <a:prstGeom prst="roundRect">
            <a:avLst>
              <a:gd name="adj" fmla="val 21622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120640" y="4919472"/>
            <a:ext cx="54864" cy="4937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303520" y="4873752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5 내 말로 채우는 기획서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406640" y="4873752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아래 ✅ 초안에 적기 → 칸 고르기. 🧩 1/4 → 4/4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10195560" y="48737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기획서.md · 전체 기록.md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120640" y="5577840"/>
            <a:ext cx="6583680" cy="676656"/>
          </a:xfrm>
          <a:prstGeom prst="roundRect">
            <a:avLst>
              <a:gd name="adj" fmla="val 21622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120640" y="5669280"/>
            <a:ext cx="54864" cy="493776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303520" y="56235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10문 리포트 &amp; 미션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7406640" y="5623560"/>
            <a:ext cx="2743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10개마다 자동으로. 늘 같은 8칸 · 다음 미션 하나 · 별이 Lv +1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0195560" y="562356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· N번째 리포트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핵심 장치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되묻기는 두 겹입니다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→ 되묻기 → 학생이 재 온 숫자 → 다음 답. 대화가 티키타카가 됩니다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53212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pic>
        <p:nvPicPr>
          <p:cNvPr id="10" name="Image 0" descr="img/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057400"/>
            <a:ext cx="5029200" cy="2514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열린 되묻기 · 대화의 다리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모든 답의 끝 · 채점 없음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“이 400이란 숫자는 어디서 왔어? 직접 재 본 적 있어?”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학생이 현실의 데이터를 직접 재서 다음 질문으로 가져옵니다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17920" y="1920240"/>
            <a:ext cx="553212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pic>
        <p:nvPicPr>
          <p:cNvPr id="16" name="Image 1" descr="img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2057400"/>
            <a:ext cx="5029200" cy="2514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2문 1역 역질문 · 이해의 확인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49560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질문 두 번마다, 별도 카드로 · 5초 고르기 → 30초 서술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5257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“센서가 빠져서 0이 되면 화분에 어떤 일이 벌어질까?”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5669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힌트 3단 · 🤷 "모르겠어"도 탓하지 않는다 · ⏭ [나중에] · 🚫 물을 게 없으면 억지로 묻지 않는다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실제 대화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화분 — 한 턴 안에서 일어나는 일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먼저 주고, 판단은 남기며, 질문으로 끝냅니다 (앱의 예시 프로젝트)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486400" cy="548640"/>
          </a:xfrm>
          <a:prstGeom prst="roundRect">
            <a:avLst>
              <a:gd name="adj" fmla="val 23333"/>
            </a:avLst>
          </a:prstGeom>
          <a:solidFill>
            <a:srgbClr val="2A2560"/>
          </a:solidFill>
          <a:ln w="9525">
            <a:solidFill>
              <a:srgbClr val="6C5C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학생 · “흙 센서값이 400 밑이면 펌프 3초 켜는 코드 짜줘.”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974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AskBack · 코드 대신 규칙 카드 + 순서도로 답합니다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흙 센서 → 400보다 마르면? → 펌프 ON (최대 5초) → 다시 잰다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상태표: 마름 / 젖음 / 센서 이상(0)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AI가 가정한 것 — 펌프가 도는 동안은 흙을 안 본다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🫵 네가 정할 것 — 목표 · 기준(400) · 얼마나 줄지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“그 400이란 숫자는 어디서 왔어? 직접 재 본 적 있어?”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5486400" cy="640080"/>
          </a:xfrm>
          <a:prstGeom prst="roundRect">
            <a:avLst>
              <a:gd name="adj" fmla="val 20000"/>
            </a:avLst>
          </a:prstGeom>
          <a:solidFill>
            <a:srgbClr val="2A2560"/>
          </a:solidFill>
          <a:ln w="9525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6634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학생 · “재 봤어 — 마른 흙은 320쯤, 물 준 직후는 610쯤 나와. 400은 예제에서 베낀 숫자였어.”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5349240"/>
            <a:ext cx="5486400" cy="777240"/>
          </a:xfrm>
          <a:prstGeom prst="roundRect">
            <a:avLst>
              <a:gd name="adj" fmla="val 16471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4406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AskBack · “그럼 기준을 320~610 사이에서 다시 정하자. 550까지만 주면 과습을 막을 수 있어.”  → ✅ 초안에 적기: 동작 시나리오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5532120" cy="4389120"/>
          </a:xfrm>
          <a:prstGeom prst="roundRect">
            <a:avLst>
              <a:gd name="adj" fmla="val 3333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2문 1역 역질문 (두 번째 질문 뒤)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“방금 상태표에서, 센서 선이 빠져서 값이 계속 0으로 읽히면 네 화분에 어떤 일이 벌어질 것 같아?”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3154680"/>
            <a:ext cx="1600200" cy="329184"/>
          </a:xfrm>
          <a:prstGeom prst="roundRect">
            <a:avLst>
              <a:gd name="adj" fmla="val 47222"/>
            </a:avLst>
          </a:prstGeom>
          <a:solidFill>
            <a:srgbClr val="1D1D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154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계속 물을 준다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3154680"/>
            <a:ext cx="1600200" cy="329184"/>
          </a:xfrm>
          <a:prstGeom prst="roundRect">
            <a:avLst>
              <a:gd name="adj" fmla="val 47222"/>
            </a:avLst>
          </a:prstGeom>
          <a:solidFill>
            <a:srgbClr val="1D1D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38160" y="3154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펌프가 멈춘다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29800" y="3154680"/>
            <a:ext cx="1600200" cy="329184"/>
          </a:xfrm>
          <a:prstGeom prst="roundRect">
            <a:avLst>
              <a:gd name="adj" fmla="val 47222"/>
            </a:avLst>
          </a:prstGeom>
          <a:solidFill>
            <a:srgbClr val="1D1D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29800" y="31546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아무 일도 없다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5초 고르기(F1) → 빈칸(F2) → 문장(F3)으로 진화 · 💡 힌트 3단 · 🤷 모르겠어 · ⏭ 나중에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턴이 남기는 것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480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폭: O2(좁은 질문) → 다음 질문은 O3(열린 질문)로 — 👨‍💻 코더 → 🛠 엔지니어 배지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숫자: 마른 흙 320 · 젖은 흙 610 (직접 잼) → 🫵 내가 정한 것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기획서.md 첫 칸: "흙이 400보다 마르면 550이 될 때까지, 길어도 5초만 물을 준다"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 기록: 실패 조건 ✓ (학생에겐 색으로만, 교사에겐 요약만)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원칙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코치가 지키는 세 가지 선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인질로 잡지 않습니다. 먼저 다 주고, 끝에서 묻습니다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pic>
        <p:nvPicPr>
          <p:cNvPr id="10" name="Image 0" descr="img/rule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12264"/>
            <a:ext cx="2926080" cy="190195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152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정보는 끝까지, 판단은 네 몫.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가르치려고 일부러 덜 주지 않습니다. 대신 목표 · 기준 · 선택 · 직접 잴 숫자는 AI가 정하지 않습니다. 화면에 🫵 네가 정할 것 · 📌 AI가 가정한 것이 나뉘어 남습니다.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5196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pic>
        <p:nvPicPr>
          <p:cNvPr id="14" name="Image 1" descr="img/rule_sp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12264"/>
            <a:ext cx="2926080" cy="19019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2628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대신 명세(Specification).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52628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기본은 규칙 카드 · 상태표 · 순서도 · 비교표. 코드는 요청이 분명할 때만, 20줄 이내로. 설계가 비었는데 구현부터 물으면 설계로 돌아가는 칩을 줍니다.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4672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pic>
        <p:nvPicPr>
          <p:cNvPr id="18" name="Image 2" descr="img/rule_nofor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112264"/>
            <a:ext cx="2926080" cy="190195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4160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억지로 묻지 않는다.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다 주고, 끝에서 묻습니다. 물을 게 없으면 묻지 않습니다. [나중에] 3연속이면 리듬을 3:1 · 4:1로 늦추고, ⚡ 답만 모드도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코칭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폭이 AI의 역할을 정합니다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O3(열린 질문)와 O4(대안 질문)를 중심에 두고, 필요할 때 O2로 좁히는 "질문 믹스"를 코칭합니다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206240" cy="4297680"/>
          </a:xfrm>
          <a:prstGeom prst="roundRect">
            <a:avLst>
              <a:gd name="adj" fmla="val 3478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mi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83118"/>
            <a:ext cx="3840480" cy="32404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5440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리포트마다 질문의 폭 · 6요소 레이더가 보입니다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920240"/>
          <a:ext cx="6858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143000"/>
                <a:gridCol w="228600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AI의 역할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O1 지시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⌨️ 받아쓰기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"코드 짜줘"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 배지 · 설계로 돌아가기 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 좁은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👨‍💻 코더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"400 밑이면 3초 켜는 코드"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설계가 틀려도 그대로 짠다 → 되묻기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O3 열린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🛠 엔지니어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"목표는 안 마르는 것, 제약은 5V 펌프야"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 · 기준 하에 맞춤 설계 — Sweet Spot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O4 대안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🏛 아키텍트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"말고 둘 더, 각각 잃는 건?"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 2개와 잃는 것을 비교 — Sweet Spot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O5 일반론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📚 백과사전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"스마트 화분이란?"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맥락 없는 뻔한 답 → 🔍 좁히기 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892040" y="5440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— 리포트가 거듭될수록 O3+O4 비율이 오른 학생의 비율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892040" y="5760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지표 — 체크 칸 4/4를 자기 말로 채워 기획서를 내보낸 프로젝트의 비율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다섯 형식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코딩만이 아닙니다 — 다섯 형식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"설계"가 형식마다 다른 뜻입니다. 형식을 고르면 채울 칸 4개 · 질문 버튼 · 전용 역질문이 바뀝니다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제품</a:t>
            </a:r>
            <a:endParaRPr lang="en-US" sz="1400" dirty="0"/>
          </a:p>
        </p:txBody>
      </p:sp>
      <p:pic>
        <p:nvPicPr>
          <p:cNvPr id="11" name="Image 0" descr="img/fmt_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441190"/>
            <a:ext cx="1920240" cy="11069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알고리즘 — 입력 → 판단 → 출력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“코드 짜줘”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“그 400, 왜?”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동작 시나리오 한 장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24912" y="192024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07792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서비스</a:t>
            </a:r>
            <a:endParaRPr lang="en-US" sz="1400" dirty="0"/>
          </a:p>
        </p:txBody>
      </p:sp>
      <p:pic>
        <p:nvPicPr>
          <p:cNvPr id="18" name="Image 1" descr="img/fmt_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441190"/>
            <a:ext cx="1920240" cy="11069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907792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규칙 — 입력 → 조건 → 결과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2907792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“앱 만들어줘”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2907792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“누가 쓰는데?”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2907792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핵심 사용자 · 기능 3개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992624" y="192024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175504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🎬 캠페인</a:t>
            </a:r>
            <a:endParaRPr lang="en-US" sz="1400" dirty="0"/>
          </a:p>
        </p:txBody>
      </p:sp>
      <p:pic>
        <p:nvPicPr>
          <p:cNvPr id="25" name="Image 2" descr="img/fmt_campaig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441190"/>
            <a:ext cx="1920240" cy="11069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175504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30초의 흐름 — 콘티 4컷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5175504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“영상 만들어줘”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175504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“바꿀 행동은?”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5175504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메시지 한 줄 · 콘티 4컷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260336" y="192024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443216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리서치</a:t>
            </a:r>
            <a:endParaRPr lang="en-US" sz="1400" dirty="0"/>
          </a:p>
        </p:txBody>
      </p:sp>
      <p:pic>
        <p:nvPicPr>
          <p:cNvPr id="32" name="Image 3" descr="img/fmt_re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4" y="2441190"/>
            <a:ext cx="1920240" cy="110694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43216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정리 → 비교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7443216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“설문 만들어줘”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443216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“누가 쓸 결과?”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7443216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조사 대상 · 방법 2가지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9528048" y="1920240"/>
            <a:ext cx="2148840" cy="429768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9710928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논문</a:t>
            </a:r>
            <a:endParaRPr lang="en-US" sz="1400" dirty="0"/>
          </a:p>
        </p:txBody>
      </p:sp>
      <p:pic>
        <p:nvPicPr>
          <p:cNvPr id="39" name="Image 4" descr="img/fmt_pap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76" y="2441190"/>
            <a:ext cx="1920240" cy="110694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9710928" y="3657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논증 구조 — 주장 · 근거 · 반론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9710928" y="4160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“보고서 써줘”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710928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🙋 “뭘 보고 알아?”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9710928" y="5394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연구 질문 한 줄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다섯 형식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질문이 첫 칸이 되기까지 — 앱의 예시 프로젝트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형식이 질문 버튼 · 채울 칸 · 코치가 되묻는 기준을 바꿉니다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00400"/>
                <a:gridCol w="292608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· 프로젝트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역질문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칸에 남은 것 (학생의 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🤖 제품 · 🌱 스마트 화분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흙 센서값이 400 밑이면 펌프 3초 켜는 코드 짜줘.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400이라는 숫자는 어디서 왔어? '마른 값'과 '젖은 값'을 직접 본 적 있어?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흙이 400보다 마르면 550이 될 때까지, 길어도 5초만 물을 준다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💻 서비스 · 🍱 급식 잔반 예측기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급식 메뉴 보고 맛있다/별로다 투표하는 웹페이지 만들어줘. 버튼 두 개면 돼.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비율을 모아서 결국 뭘 알고 싶은 거야?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내일 밥을 얼마나 할지 정하는 영양사 선생님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🎬 캠페인 · 비닐봉지 안 받기 30초 영상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일회용 비닐 문제를 알리고 싶어. 본 사람이 딱 하나 바꿀 행동을 뭘로 잡을까?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네가 마지막으로 편의점에서 봉지를 받은 건 언제야? 왜 받았어?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하교길 편의점에서 '봉지 괜찮아요'라고 말한다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🔬 리서치 · 학교 앞 횡단보도 대기 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등교 시간 신호 대기를 알아보고 싶어. 누구를 조사해야 쓸모 있는 답이 나올까?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결과가 나오면 누가 무엇을 다르게 결정할 수 있어?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후문으로 등교하는 1학년 · 결과는 학생회 건의에 쓴다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📄 논문 · 교실 조명과 집중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주제는 교실 조명 색이야. 확인할 수 있는 연구 질문 한 문장으로 좁히고 싶어.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'집중했다'는 걸 너는 뭘 보고 알 수 있어?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주황빛 스탠드를 켜면 수학 문제 10개를 푸는 시간이 줄어들까?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남는 것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휘발되지만, 내 말로 채운 칸은 남습니다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초안에 적기 → 기획서.md · 전체 기록.md — 학생이 자기 말로 채운 한 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85216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57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 기획서.md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23160"/>
            <a:ext cx="5303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 🌱 스마트 화분 · 기획서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 동작 시나리오 — 흙이 400보다 마르면 550이 될 때까지, 길어도 5초만 물을 준다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 부품 목록 — 5V 펌프 · 흙 센서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☑ 구조 스케치    ☑ 만드는 순서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## 🫵 내가 정한 것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마른 흙 320 · 젖은 흙 610 (직접 잼)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## 📌 AI가 가정한 것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펌프가 도는 동안은 흙을 안 본다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623560"/>
            <a:ext cx="1691640" cy="365760"/>
          </a:xfrm>
          <a:prstGeom prst="roundRect">
            <a:avLst>
              <a:gd name="adj" fmla="val 42500"/>
            </a:avLst>
          </a:prstGeom>
          <a:solidFill>
            <a:srgbClr val="1D1D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623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 AI 활용 기록서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14600" y="5623560"/>
            <a:ext cx="1691640" cy="365760"/>
          </a:xfrm>
          <a:prstGeom prst="roundRect">
            <a:avLst>
              <a:gd name="adj" fmla="val 42500"/>
            </a:avLst>
          </a:prstGeom>
          <a:solidFill>
            <a:srgbClr val="1D1D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14600" y="5623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 학생 본인의 언어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5623560"/>
            <a:ext cx="1691640" cy="365760"/>
          </a:xfrm>
          <a:prstGeom prst="roundRect">
            <a:avLst>
              <a:gd name="adj" fmla="val 42500"/>
            </a:avLst>
          </a:prstGeom>
          <a:solidFill>
            <a:srgbClr val="1D1D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5623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코딩 도구의 입력값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1920240"/>
            <a:ext cx="521208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내보내는 .md 세 가지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4688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초안.md — 체크 칸 4개 · 코딩 · 영상 · 문서 도구에 붙여넣기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기획서.md — 초안 + 내가 정한 것 + AI가 가정한 것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기록.md — 질문 · 답 · 되물음에 한 답까지 — 수행평가에 그대로 낸다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4114800"/>
            <a:ext cx="521208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학생의 말이어야 하는가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663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칸을 대신 채우지 않는다 — "네 말로" 안내 · 글자 수 제한 · 직전 답과의 유사도 검사(W1)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제출할 수 있고, 설명할 수 있다 — 발표에서 "동그라미 친 상자가 제가 잰 숫자예요"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초안 완성률 50% · 내 말 비율(유사도 0.55 미만) 80%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남는 것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 말의 늦은 평가가 아닌, 10번의 질문마다 비춰 주는 거울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· N번째 리포트 — 대화 카드 · 팝업 · .md가 늘 같은 8칸. 읽는 법은 한 번만 배웁니다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r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23110"/>
            <a:ext cx="731520" cy="4800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7/10 · 이번 열 개 요약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31720" y="192024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4" name="Image 1" descr="img/r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023110"/>
            <a:ext cx="731520" cy="4800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2316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유형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42316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O1~O5 믹스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206240" y="192024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8" name="Image 2" descr="img/r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023110"/>
            <a:ext cx="731520" cy="4800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2976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길이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29768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수 · 문장 수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080760" y="192024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22" name="Image 3" descr="img/r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23110"/>
            <a:ext cx="731520" cy="4800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17220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실은 것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17220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· 맥락 · 제약 · 기준 · 검증 · 버릴 것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57200" y="333756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26" name="Image 4" descr="img/r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440430"/>
            <a:ext cx="731520" cy="4800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되묻기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4233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이어받기 · 직접 잰 값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2331720" y="333756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30" name="Image 5" descr="img/rp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3440430"/>
            <a:ext cx="731520" cy="4800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42316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걸린 곳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2423160" y="4233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역질문 F1~F3 · 힌트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4206240" y="333756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34" name="Image 6" descr="img/rp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440430"/>
            <a:ext cx="731520" cy="48006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29768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 질문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4297680" y="4233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바꿔 읽기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6080760" y="3337560"/>
            <a:ext cx="173736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38" name="Image 7" descr="img/rp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440430"/>
            <a:ext cx="731520" cy="48006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172200" y="3977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미션</a:t>
            </a:r>
            <a:endParaRPr lang="en-US" sz="1100" dirty="0"/>
          </a:p>
        </p:txBody>
      </p:sp>
      <p:sp>
        <p:nvSpPr>
          <p:cNvPr id="40" name="Text 30"/>
          <p:cNvSpPr txBox="1"/>
          <p:nvPr/>
        </p:nvSpPr>
        <p:spPr>
          <a:xfrm>
            <a:off x="6172200" y="4233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미션 하나</a:t>
            </a:r>
            <a:endParaRPr lang="en-US" sz="850" dirty="0"/>
          </a:p>
        </p:txBody>
      </p:sp>
      <p:sp>
        <p:nvSpPr>
          <p:cNvPr id="41" name="Shape 31"/>
          <p:cNvSpPr/>
          <p:nvPr/>
        </p:nvSpPr>
        <p:spPr>
          <a:xfrm>
            <a:off x="8046720" y="1920240"/>
            <a:ext cx="3703320" cy="2743200"/>
          </a:xfrm>
          <a:prstGeom prst="roundRect">
            <a:avLst>
              <a:gd name="adj" fmla="val 5333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8275320" y="2057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🚩 다음 미션 — 딱 하나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827532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“다음엔 대안을 물어봐”</a:t>
            </a:r>
            <a:endParaRPr lang="en-US" sz="1400" dirty="0"/>
          </a:p>
        </p:txBody>
      </p:sp>
      <p:sp>
        <p:nvSpPr>
          <p:cNvPr id="44" name="Text 34"/>
          <p:cNvSpPr txBox="1"/>
          <p:nvPr/>
        </p:nvSpPr>
        <p:spPr>
          <a:xfrm>
            <a:off x="8275320" y="2880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한 장마다 별이 Lv +1 · 한 달이면 📘 월간 처방(지식 · 습관 · 기술) · 첫 리포트와 지금을 나란히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457200" y="4846320"/>
            <a:ext cx="1129284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731520" y="4937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대상은 언제나 '예전의 나'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731520" y="53035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· 월간 · 미션은 전부 집계와 규칙(모델 호출 0)으로 만들어집니다. 교사는 원문이 아니라 요약만 봅니다 — 학생이 데이터의 주인입니다. 목표: 리포트 열람률 70% · 미션 달성률 50%.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효과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3주, 다른 결말 — 설명할 수 있는 작품을 만듭니다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"화분에 물을 자동으로 주고 싶어" — 같은 아이디어로 시작한 두 갈래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없이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14600"/>
          <a:ext cx="3108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"코드 짜줘" → 복붙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된다 → "다시 짜줘"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뚝딱 완성 → 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3주차 발표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"왜 400이에요?" → ……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73152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것: 출처 모를 코드 파일 하나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97680" y="1920240"/>
            <a:ext cx="3657600" cy="4297680"/>
          </a:xfrm>
          <a:prstGeom prst="roundRect">
            <a:avLst>
              <a:gd name="adj" fmla="val 4000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AskBack과 함께</a:t>
            </a:r>
            <a:endParaRPr lang="en-US" sz="14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514600"/>
          <a:ext cx="31089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"코드 짜줘" → 순서도 + 🙋 되묻기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잰다 — 320 · 610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기획서 4칸 · 1번째 리포트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2주차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단씩 확장 · 친구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3주차 발표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"동그라미 친 상자가 제가 잰 숫자예요"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4572000" y="5257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것: 기획서.md · 리포트 · 전체 기록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1920240"/>
            <a:ext cx="3611880" cy="4297680"/>
          </a:xfrm>
          <a:prstGeom prst="roundRect">
            <a:avLst>
              <a:gd name="adj" fmla="val 4051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36676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3주 동안, 질문이 여섯 단을 오릅니다</a:t>
            </a:r>
            <a:endParaRPr lang="en-US" sz="1200" dirty="0"/>
          </a:p>
        </p:txBody>
      </p:sp>
      <p:pic>
        <p:nvPicPr>
          <p:cNvPr id="19" name="Image 0" descr="img/st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2825115"/>
            <a:ext cx="3337560" cy="139065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45262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시킨다 → 2 재 온다 → 3 조건을 싣는다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다른 길을 묻는다 → 5 기준을 먼저 세운다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남에게 건넨다 — 기획서.md 공유 · 협력 팩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효과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시키는 자에서 설계하는 자로 — 질문이 자라는 여섯 단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AskBack은 학생이 지금 서 있는 곳에서 딱 한 단만 위로 밀어 줍니다 (앱의 예시 프로젝트에서)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65760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A8A8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A8A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시킨다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“코드 짜줘”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여기서 시작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8A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미는 장치 · ⌨️ 받아쓰기 · 👨‍💻 코더 배지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1920240"/>
            <a:ext cx="365760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67E8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056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재 온다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“30분은 그냥 감이었어. 5분마다 찍어 보니 20분째부터 고개가 나가 있었어”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서연 · 🐢 거북목 감시 웹캠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미는 장치 · 🙋 열린 되묻기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65760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조건을 싣는다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“목표는 상추가 안 마르는 것, 제약은 5V 펌프에 다음 주 시연이야”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민준 · 🌱 스마트 화분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미는 장치 · 🌅 넓히기 칩의 ___ 빈칸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365760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다른 길을 묻는다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663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“장난 제보를 막는 방법이 뭐뭐 있어? 각각 뭘 잃어?”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서윤 · 🚸 위험 등굣길 지도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5742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미는 장치 · 🔀 대안 칩 · 리포트의 미션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51960" y="4114800"/>
            <a:ext cx="365760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6C5C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056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기준을 먼저 세운다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4663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“틀린다면 일반쓰레기 쪽으로 틀리는 게 나아”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하린 · ♻️ 분리배출 사진 판별기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5742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C5CE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미는 장치 · 🧭 역질문 — 기준 · 검증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4114800"/>
            <a:ext cx="365760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4251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남에게 건넨다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4663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“후배가 나 없이도 돌릴 수 있게 하려면 뭘 넘겨야 해?”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 · 🍱 급식 잔반 예측기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742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미는 장치 · 📣 공유 · 🤝 협력 팩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솔루션 · 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만든 것 (2026-09-21) — 설명이 아니라 시연으로 만납니다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웹 프로토타입이 돌아갑니다 · askback-omega.vercel.app · /demo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사업적 의미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프로토타입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온보딩 → 형식 → 대화 → 역질문 → 리포트 → 월간 → .md 내보내기까지 한 바퀴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설명이 아니라 시연으로 교사를 만난다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 프로젝트 6개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스마트 화분 · 거북목 웹캠 · 분리배출 판별기 · 반려동물 일지 · 급식 잔반 · 위험 등굣길 — 각 질문 16개 · 5단 확장 · 기획서 · 리포트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 연수 자료 · 수업안의 본보기 · 질문 은행의 씨앗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규칙 + 검사기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"코드 없음 · 답마다 되묻기 · 2문 1역 · 10답 1리포트 · 5단 확장"을 스크립트가 검사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콘텐츠를 늘려도 품질이 유지된다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엔진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API 없이 같은 모양으로 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0원 체험 · 연수 · 박람회 · 오프라인 교실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API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4개(답 · 역질문 · 피드백 · 심화) 구조화 출력 · 사진 입력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파일럿에 바로 쓸 수 있는 실제 엔진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/demo 시연 허브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 목업 + 코칭 해설 + JSON 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 · 제안서 · 투자 설명용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🟡 일부만 — 기획서.md 자동 누적(예시에서만) · 복기함 · 미션 바꾸기 · 기능별 비용 기록     ⬜ 아직 없음 — 계정 · 서버 저장 · 보호자 동의 · 교실 모드 · 교사 화면 · 포트폴리오 PDF · AI 활용 기록서 양식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65760"/>
            <a:ext cx="6035040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65000"/>
            </a:srgbClr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고객과 시장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절실한 자리부터 안쪽 궤도에 — 중학교 프로젝트 학급 → 수행평가 → 학원 → 학부모</a:t>
            </a:r>
            <a:endParaRPr lang="en-US" sz="1600" dirty="0"/>
          </a:p>
        </p:txBody>
      </p:sp>
      <p:pic>
        <p:nvPicPr>
          <p:cNvPr id="7" name="Image 1" descr="img/who_orb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3931920" cy="3931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고객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누구에게, 왜 필요한가 — 네 자리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· AskBack이 있으면 · 이렇게 시작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53212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60A5FA"/>
            </a:solidFill>
            <a:prstDash val="solid"/>
          </a:ln>
        </p:spPr>
      </p:sp>
      <p:pic>
        <p:nvPicPr>
          <p:cNvPr id="10" name="Image 0" descr="img/p_stud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11680"/>
            <a:ext cx="1371600" cy="94297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011680" y="1984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🧑‍🚀 중학생 · 프로젝트 학급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20116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자유학기 · 메이커 · 사회참여 동아리 — 가장 절실한 자리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2278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베낀 숫자로 만든다 · 돌아가는데 설명을 못 한다 · 쓰면 의심받고, 남는 문서가 없다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AskBack이 있으면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3227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 400은 어디서 왔어?" → 직접 잰 내 숫자 · 발표에서 "센서가 빠지면요?"에 답한다 · 기획서.md · 전체 기록이 남는다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0116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예시 프로젝트를 통으로 읽고 → "코드 짜줘"로 시작해도 OK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172200" y="1874520"/>
            <a:ext cx="553212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A78BFA"/>
            </a:solidFill>
            <a:prstDash val="solid"/>
          </a:ln>
        </p:spPr>
      </p:sp>
      <p:pic>
        <p:nvPicPr>
          <p:cNvPr id="19" name="Image 1" descr="img/p_tea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2011680"/>
            <a:ext cx="1371600" cy="94297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26680" y="1984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👩‍🏫 교사 · 수행평가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66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지침 — 과정을 증빙해야 하는 자리 · 구매 영향자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6309360" y="3017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endParaRPr lang="en-US" sz="850" dirty="0"/>
          </a:p>
        </p:txBody>
      </p:sp>
      <p:sp>
        <p:nvSpPr>
          <p:cNvPr id="23" name="Text 19"/>
          <p:cNvSpPr txBox="1"/>
          <p:nvPr/>
        </p:nvSpPr>
        <p:spPr>
          <a:xfrm>
            <a:off x="6309360" y="32278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결과물만 보고 점수를 준다 · 30명의 과정을 볼 시간이 없다 · AI 허용 범위를 정할 근거가 없다</a:t>
            </a:r>
            <a:endParaRPr lang="en-US" sz="850" dirty="0"/>
          </a:p>
        </p:txBody>
      </p:sp>
      <p:sp>
        <p:nvSpPr>
          <p:cNvPr id="24" name="Text 20"/>
          <p:cNvSpPr txBox="1"/>
          <p:nvPr/>
        </p:nvSpPr>
        <p:spPr>
          <a:xfrm>
            <a:off x="8915400" y="3017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AskBack이 있으면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8915400" y="3227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평소처럼 묻기만 해도 기록이 쌓인다 · 헤더의 🧩 n/4와 10문 리포트만 본다 · 논문 · 리서치 · 캠페인까지 같은 틀로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7726680" y="2651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/demo로 계정 없이 교실 시연 → 자유학기 8차시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457200" y="4114800"/>
            <a:ext cx="553212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67E8F9"/>
            </a:solidFill>
            <a:prstDash val="solid"/>
          </a:ln>
        </p:spPr>
      </p:sp>
      <p:pic>
        <p:nvPicPr>
          <p:cNvPr id="28" name="Image 2" descr="img/p_scho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51960"/>
            <a:ext cx="1371600" cy="94297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01168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 메이커스페이스 · 코딩 학원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201168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 수업의 앞 2차시 — 코딩 도구를 열기 전에 · B2B2C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594360" y="5257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endParaRPr lang="en-US" sz="850" dirty="0"/>
          </a:p>
        </p:txBody>
      </p:sp>
      <p:sp>
        <p:nvSpPr>
          <p:cNvPr id="32" name="Text 27"/>
          <p:cNvSpPr txBox="1"/>
          <p:nvPr/>
        </p:nvSpPr>
        <p:spPr>
          <a:xfrm>
            <a:off x="594360" y="54681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복붙만 하고 끝난다 · 안 되면 "다시 만들어줘" · 완성품은 있는데 설명이 없다</a:t>
            </a:r>
            <a:endParaRPr lang="en-US" sz="850" dirty="0"/>
          </a:p>
        </p:txBody>
      </p:sp>
      <p:sp>
        <p:nvSpPr>
          <p:cNvPr id="33" name="Text 28"/>
          <p:cNvSpPr txBox="1"/>
          <p:nvPr/>
        </p:nvSpPr>
        <p:spPr>
          <a:xfrm>
            <a:off x="3200400" y="5257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AskBack이 있으면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3200400" y="54681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회로 · 화면을 사진으로 보여 주며 묻는다 · 모든 답에 "확인하는 법" — 한 단씩 · 기획서 + 만드는 순서가 코딩 도구의 입력값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2011680" y="4892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코딩 도구보다 먼저, 기획서 4칸부터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6172200" y="4114800"/>
            <a:ext cx="5532120" cy="2103120"/>
          </a:xfrm>
          <a:prstGeom prst="roundRect">
            <a:avLst>
              <a:gd name="adj" fmla="val 6957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pic>
        <p:nvPicPr>
          <p:cNvPr id="37" name="Image 3" descr="img/p_par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4251960"/>
            <a:ext cx="1371600" cy="942975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72668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👨‍👩‍👧 학부모</a:t>
            </a:r>
            <a:endParaRPr lang="en-US" sz="1250" dirty="0"/>
          </a:p>
        </p:txBody>
      </p:sp>
      <p:sp>
        <p:nvSpPr>
          <p:cNvPr id="39" name="Text 33"/>
          <p:cNvSpPr txBox="1"/>
          <p:nvPr/>
        </p:nvSpPr>
        <p:spPr>
          <a:xfrm>
            <a:off x="7726680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막아야 하나, 둬야 하나 — 기특한데 불안한 자리 · B2C 결제자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6309360" y="5257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6309360" y="54681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아이가 AI로 뭔가 만드는데 물어볼 데가 없다 · 아이가 자라는지 알 길이 없다</a:t>
            </a:r>
            <a:endParaRPr lang="en-US" sz="850" dirty="0"/>
          </a:p>
        </p:txBody>
      </p:sp>
      <p:sp>
        <p:nvSpPr>
          <p:cNvPr id="42" name="Text 36"/>
          <p:cNvSpPr txBox="1"/>
          <p:nvPr/>
        </p:nvSpPr>
        <p:spPr>
          <a:xfrm>
            <a:off x="8915400" y="5257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AskBack이 있으면</a:t>
            </a:r>
            <a:endParaRPr lang="en-US" sz="850" dirty="0"/>
          </a:p>
        </p:txBody>
      </p:sp>
      <p:sp>
        <p:nvSpPr>
          <p:cNvPr id="43" name="Text 37"/>
          <p:cNvSpPr txBox="1"/>
          <p:nvPr/>
        </p:nvSpPr>
        <p:spPr>
          <a:xfrm>
            <a:off x="8915400" y="546811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질문과 지금의 질문을 나란히 본다 · 아이가 자기 말로 쓴 기획서 한 장 · 아이가 공유를 고르면 월간 요약(준비 중)</a:t>
            </a:r>
            <a:endParaRPr lang="en-US" sz="850" dirty="0"/>
          </a:p>
        </p:txBody>
      </p:sp>
      <p:sp>
        <p:nvSpPr>
          <p:cNvPr id="44" name="Text 38"/>
          <p:cNvSpPr txBox="1"/>
          <p:nvPr/>
        </p:nvSpPr>
        <p:spPr>
          <a:xfrm>
            <a:off x="7726680" y="4892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아이와 함께 1번째 리포트 읽기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고객 · 교실에서는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자유학기 8차시 — 교사는 🧩 n/4만 봅니다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평가의 근거 = 전체 기록.md (질문의 폭 · 내가 정한 것 · 되물음에 한 답) — 과정 중심 평가가 그대로 남습니다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10607040" cy="0"/>
          </a:xfrm>
          <a:prstGeom prst="line">
            <a:avLst/>
          </a:prstGeom>
          <a:noFill/>
          <a:ln w="25400">
            <a:solidFill>
              <a:srgbClr val="2C2C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6060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7830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프로젝트를 같이 읽는다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/demo · 계정 없이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17520" y="26060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31720" y="3291840"/>
            <a:ext cx="17830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41448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아이디어 티키타카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441448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형식을 고른다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26060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291840"/>
            <a:ext cx="17830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15968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프로젝트 대화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315968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🧩 n/4만 본다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26060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3291840"/>
            <a:ext cx="17830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90488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리포트 · 미션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190488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 베스트 질문 바꿔 읽기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641080" y="26060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41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0" y="3291840"/>
            <a:ext cx="17830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65008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초안.md로 만든다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65008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· 영상 · 문서 도구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515600" y="26060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5156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829800" y="3291840"/>
            <a:ext cx="1783080" cy="1371600"/>
          </a:xfrm>
          <a:prstGeom prst="roundRect">
            <a:avLst>
              <a:gd name="adj" fmla="val 10667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39528" y="3383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939528" y="4023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한 장 + 내가 확인한 가정 하나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937760"/>
            <a:ext cx="365760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교사가 얻는 것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3766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학생마다 기획서 한 장 · 첫 리포트 · 발표회 — "평가할 거리"가 생긴다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251960" y="4937760"/>
            <a:ext cx="365760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48056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얻는 것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480560" y="53766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"제가 잰 숫자는 이거고, AI가 가정한 건 이거예요" — 몰래 쓰지 않아도 된다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46720" y="4937760"/>
            <a:ext cx="3657600" cy="1280160"/>
          </a:xfrm>
          <a:prstGeom prst="roundRect">
            <a:avLst>
              <a:gd name="adj" fmla="val 11429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753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증빙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275320" y="53766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되물음에 한 답까지 전체 기록.md — AI 활용 표기가 그대로 끝난다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시장 · 왜 지금인가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개의 흐름이 한 자리에서 만납니다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"설계를 같이 하는 도구"의 빈자리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148840" cy="274320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보급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603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중·고생 67.9%가 생성형 AI 사용 경험 — 금지는 늦었다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24912" y="1920240"/>
            <a:ext cx="2148840" cy="274320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📜 제도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25603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수행평가 지침 — 프롬프트 · 과정 표기 의무. 모든 학교가 같은 숙제를 가졌다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92624" y="1920240"/>
            <a:ext cx="2148840" cy="274320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5504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근거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175504" y="25603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OECD · MIT · MS 연구 — "메타인지의 착시": 명쾌한 답을 받으면 이해했다고 착각한다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60336" y="1920240"/>
            <a:ext cx="2148840" cy="274320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43216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🏫 정책 전환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25603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디지털교과서 후퇴 → AI 중점학교 · AI 리터러시로 무게 이동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28048" y="1920240"/>
            <a:ext cx="2148840" cy="2743200"/>
          </a:xfrm>
          <a:prstGeom prst="roundRect">
            <a:avLst>
              <a:gd name="adj" fmla="val 6809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10928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 바이브 코딩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10928" y="256032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비용이 0에 가까워짐 → 가치가 "무엇을 · 왜"로 이동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11247120" cy="1371600"/>
          </a:xfrm>
          <a:prstGeom prst="roundRect">
            <a:avLst>
              <a:gd name="adj" fmla="val 10667"/>
            </a:avLst>
          </a:prstGeom>
          <a:solidFill>
            <a:srgbClr val="1A1A38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9377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— '설계를 같이 하는 도구'의 빈자리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도구는 넘치지만 그 도구에 넣을 설계를 청소년과 같이 만들어 주는 도구는 없다. 지불 의사 — 2025년 사교육비 27.5조 원 · 참여 학생 1인당 월 60.4만 원 · 국내 에듀테크 약 11조 원(2026 전망) · Khanmigo 1년 새 6.8만 → 70만+.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시장 · 규모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규모 — TAM · SAM · SOM (전부 추정)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전제: 중·고생 약 260만 명 · 개인 구독 월 9,900원(연 11.9만 원) · 학교 라이선스 학생당 연 2.4만 원 (가정)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920240"/>
          <a:ext cx="58521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20240"/>
          <a:ext cx="5257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600200"/>
                <a:gridCol w="1600200"/>
                <a:gridCol w="10515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중·고생 전체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260만 × 연 11.9만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3,090억 원/년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생성형 AI를 쓰는 중·고생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260만 × 67.9% ≈ 177만 × 연 11.9만 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2,100억 원/년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SOM (3년차)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학교·기관 라이선스 8만 명 + 개인 유료 1.5만 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 × 2.4만 + 1.5만 × 11.9만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37억 원/년 (목표)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92240" y="4343400"/>
            <a:ext cx="5257800" cy="1874520"/>
          </a:xfrm>
          <a:prstGeom prst="roundRect">
            <a:avLst>
              <a:gd name="adj" fmla="val 7805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720840" y="4434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v4의 초점 시장 — "프로젝트를 하는 중학생"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720840" y="48006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메이커 · 발명 · 탐구 · 사회참여 동아리, 자유학기 주제선택, 교내외 대회 준비. 이 집단의 인원은 아직 세지 않았다 — 파일럿 전에 교육통계와 동아리 · 대회 참가 규모를 확인해 SOM을 아래에서부터 다시 쌓는다.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시장 · 확장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쓰이는가 — 사용 공간 지도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안 1차 시장 → 학교 밖 B2B2C → 집 B2C → 온라인 확산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🏫 학교 안 — 1차 시장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D1D3A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514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라이선스 · 교사 무료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 수업(정보 · 기술가정 · 과학 · 사회 · 국어)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자유학기 주제선택 · 동아리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· 학생회 · 자치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663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73659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"AI로 만든 걸 뭘로 평가하지?" → 기획서 한 장 + 전체 기록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92024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67E8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🏙 학교 밖 — B2B2C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2514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D1D3A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2514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좌석당 과금 · 자체 예시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메이커스페이스 · 무한상상실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영재원 · 과학관 · 도서관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· 메이커 학원 · 청소년센터 · 캠프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4663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84448" y="473659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"만들긴 하는데 남는 게 없다" → 포트폴리오로 기획서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92024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집 — B2C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2514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D1D3A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2514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라이트 · 프로 구독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프로젝트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대회 · 공모전 준비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가족과 함께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4663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9088" y="473659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"막아야 하나 둬야 하나" → 자라는 증거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961120" y="1920240"/>
            <a:ext cx="2697480" cy="4297680"/>
          </a:xfrm>
          <a:prstGeom prst="roundRect">
            <a:avLst>
              <a:gd name="adj" fmla="val 5424"/>
            </a:avLst>
          </a:prstGeom>
          <a:solidFill>
            <a:srgbClr val="1616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온라인 — 확산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0" y="2514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D1D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0" y="2514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체험(로컬 엔진) · 예시 공개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0" y="3017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해커톤 · 아이디어톤</a:t>
            </a:r>
            <a:endParaRPr lang="en-US" sz="10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공유 · 따라 만들기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0" y="4663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1D1D3A"/>
          </a:solidFill>
          <a:ln w="6350">
            <a:solidFill>
              <a:srgbClr val="2C2C4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53728" y="4736592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"하루 만에 기획서를 받아야 한다" → 💡 티키타카 + 형식 체크 칸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65760"/>
            <a:ext cx="6035040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65000"/>
            </a:srgbClr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경쟁과 차별점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끝까지 주고, 설계는 학생이 한다 — 그 자리는 비어 있었습니다.</a:t>
            </a:r>
            <a:endParaRPr lang="en-US" sz="1600" dirty="0"/>
          </a:p>
        </p:txBody>
      </p:sp>
      <p:pic>
        <p:nvPicPr>
          <p:cNvPr id="7" name="Image 1" descr="img/posi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00275"/>
            <a:ext cx="3931920" cy="24574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경쟁 분석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지형 — 여섯 부류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도구는 경쟁자가 아니라 보완재 — AskBack의 기획서가 그 도구들의 입력입니다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651760"/>
                <a:gridCol w="2103120"/>
                <a:gridCol w="310896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청소년 관점의 한계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 범용 챗봇 학습 모드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Study · Claude Learning · Gemini Guided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소크라테스식 질문 · 힌트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학생이 스스로 켜야 하고, 급하면 끈다. 질문 습관 · 산출물은 안 남는다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 소크라테스 튜터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Khanmigo · 엘리스 헬피 에듀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답을 아끼고 단계별로 유도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교과 문제 풀이 중심. 답을 안 줘서 떠난다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C. 교실 AI 플랫폼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Flint · SchoolAI · MagicSchool · 클래스팅 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교사가 만든 튜터 · 대화 전문 열람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구조가 감시다. 학생의 도구가 아니다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 (학교 예산)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D. 과정 증빙 · 탐지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Grammarly Authorship · GPTZero · Turnitin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기록 · AI 생성 탐지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결백 증명에서 멈춘다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부분 경쟁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E. 문제 풀이 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콴다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→ 풀이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의존 문제의 원인 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F. 바이브 코딩 · 생성 도구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Cursor · Claude Code · Replit · AI 영상 도구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요청으로 결과물을 만든다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설계를 묻지 않는다. 어른용이고, 과정 기록 · 성장 분석이 없다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보완재 — 기획서가 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경쟁 분석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비교표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◎ 충실 · ◯ 있음 · △ 일부 · ✕ 없음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</a:t>
            </a:r>
            <a:endParaRPr lang="en-US" sz="9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54480"/>
                <a:gridCol w="1554480"/>
                <a:gridCol w="27432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학습 모드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Khanmigo · 헬피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Flint · SchoolAI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바이브 코딩 도구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AskBack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충실한 답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(일부러 안 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 (코드)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◎ 명세 + 확인하는 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설계를 먼저 묻는다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형식별 기획 · 알고리즘 · 구조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판단을 학생에게 남긴다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네가 정할 것 · 가정 공개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되묻기 · 코칭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(매번 · 끌 수 있음)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(매번)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열린 되묻기 + 2문 1역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질문의 폭 코칭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역할 배지 · 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학생의 말로 쌓이는 산출물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(AI가 쓴 문서)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기획서.md · 전체 기록.md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학생의 프롬프트 자체를 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폭 · 6요소 · 글자 수 · 단계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 리포트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진도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교사 통계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10문마다 · 월간 · 첫 리포트와 지금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코딩 밖의 프로젝트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◯ 논문 · 리서치 · 캠페인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데이터의 주인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 · 학교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(교사는 요약만)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차별점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포지셔닝 — 만들어 주는가 × 설계를 학생에게 남기는가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충실히 주면서 설계는 학생이 정하고 남기는 자리, 우리가 갈 자리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694944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pic>
        <p:nvPicPr>
          <p:cNvPr id="10" name="Image 0" descr="img/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6583680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35240" y="1920240"/>
            <a:ext cx="4114800" cy="4297680"/>
          </a:xfrm>
          <a:prstGeom prst="roundRect">
            <a:avLst>
              <a:gd name="adj" fmla="val 3556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부류, 한 문장씩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863840" y="251460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D1D3A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2560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범용 챗봇 · 학습 모드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283464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주지만 설계를 묻지 않는다 · 급하면 끈다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863840" y="324612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D1D3A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291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소크라테스 튜터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56616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아껴서 프로젝트가 멈춘다 · 답답해서 떠난다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863840" y="397764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D1D3A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0100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B71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🏫 교실 플랫폼 · 탐지기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429768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과정이 아니라 흔적만 본다 · 학생의 도구가 아니다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863840" y="470916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D1D3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01000" y="4754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바이브 코딩 도구 · 일반 챗봇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502920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대신 설계한다 → 보완재: 기획서가 입력값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863840" y="5440680"/>
            <a:ext cx="3657600" cy="640080"/>
          </a:xfrm>
          <a:prstGeom prst="roundRect">
            <a:avLst>
              <a:gd name="adj" fmla="val 14286"/>
            </a:avLst>
          </a:prstGeom>
          <a:solidFill>
            <a:srgbClr val="1D1D3A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01000" y="5486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AskBack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5760720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명세와 답은 끝까지 주되, 판단과 설계는 학생의 언어로 남긴다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차별점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가지 차별점, 그리고 방어력(Moat)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하나하나는 몇 달이면 따라온다 — 방어력은 쌓인 시나리오 · 데이터와 학교에 뿌리내린 운영 방식에서 나온다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852160" cy="4297680"/>
          </a:xfrm>
          <a:prstGeom prst="roundRect">
            <a:avLst>
              <a:gd name="adj" fmla="val 3404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코드보다 설계 먼저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결과물은 명세다. 코딩 도구와 싸우지 않고 그 앞자리를 차지한다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426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다섯 형식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6426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코칭이 메이커 · 앱 · 탐구 · 논문 · 캠페인에 — 정보 교과 밖으로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2278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답의 경계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227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· 구현은 끝까지, 판단은 학생에게. '네가 정할 것'이 화면에 남는다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813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두 겹의 되묻기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38130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되묻기(티키타카) + 2문 1역(이해 확인). 억지로 묻지 않는다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3982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학생의 말로 쌓이는 기획서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43982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칸을 대신 채우지 않는다. 그래서 제출할 수 있고, 설명할 수 있다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983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프로젝트 · N번째 리포트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번마다, 어디서나 같은 여덟 칸. 글자 수와 실은 것까지 본다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5686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학생이 데이터의 주인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788920" y="55686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교사는 요약만. 감시 도구가 아니라 학생의 도구다</a:t>
            </a:r>
            <a:endParaRPr lang="en-US" sz="9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20240"/>
          <a:ext cx="5257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862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방어력 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따라오기 어려운 이유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 · 질문 은행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청소년 프로젝트 맥락의 검수된 코칭 대본은 현장과 시간이 있어야 쌓인다 — Phase B의 RAG 자산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종단 데이터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학생 · 한 프로젝트의 리포트 단위 궤적 — 범용 챗봇 · 코딩 도구는 대화를 구조화하지 않는다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체계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× (체크 칸 · 질문 초안 · 코칭 지침 · 전용 역질문) — 수업 운영 방식이 같이 팔린다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제도 적합성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수행평가 지침 단위까지 맞춘 기록 — 글로벌 제품은 여기까지 안 맞춘다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 구조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소유 · 교사 요약 — 교사 열람 기반 플랫폼은 구조를 뒤집기 어렵다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엔진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없이 도는 체험판 — 연수 · 박람회 · 예산 없는 교실에 먼저 들어간다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65760"/>
            <a:ext cx="6035040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65000"/>
            </a:srgbClr>
          </a:solidFill>
          <a:ln w="12700">
            <a:solidFill>
              <a:srgbClr val="07071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20116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063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모델과 실행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학급에서 깊게 시작해, 교사 커뮤니티 → 수행평가 → 학부모로.</a:t>
            </a:r>
            <a:endParaRPr lang="en-US" sz="1600" dirty="0"/>
          </a:p>
        </p:txBody>
      </p:sp>
      <p:pic>
        <p:nvPicPr>
          <p:cNvPr id="7" name="Image 1" descr="img/stai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609850"/>
            <a:ext cx="3931920" cy="16383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비즈니스 모델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구조 — 가격은 전부 가정, 실측 후 확정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· 기관 라이선스(학생당 연 과금) + 개인 구독 + B2B2C · 교사는 무료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9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2560320"/>
                <a:gridCol w="48463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(가정)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엔진 — 예시 6개 · 아이디어 티키타카 · 가이드 · 답 카드 기반 대화. 서버 비용 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개인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답(일 한도) · 역할 배지 · 2문 1역 · 최근 리포트 1장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· 학부모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9,900원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한도 내 전 기능 · 리포트 전체 · 기획서/전체 기록 내보내기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 · 학부모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19,900원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무제한 · 월간 리포트와 공부 처방 · 심화 · 팩 · 사진 입력 · 포트폴리오 PDF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 · 기관 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 · 교육청 · 영재원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학생당 연 2.4만 원~ (한 학급 무료 체험)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 + 교실 모드 · 교사 요약 · 커스텀 형식 · 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 개인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 요약 · 수업안 · 예시 시나리오 만들기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B2B2C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메이커스페이스 · 코딩 학원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좌석당 월 과금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라이선스와 동일 + 브랜딩 · 자체 예시 프로젝트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지표 — 사교육비 1인당 월평균 60.4만 원 대비 압도적 가성비 · 학교 라이선스(월 환산 2,000원)가 가장 빠듯 → 학교용 일 한도 · 로컬 엔진 혼용 · 교육청 단위 계약가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비즈니스 모델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원가 전략 — v4에서 구조가 가벼워졌습니다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보는 답 본문은 끝까지 아끼지 않고, 그 주변(선택 · 채점 · 집계)에서 줄인다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72237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74320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v3 계획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v4 현재 구현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+ 자기 비평 + 코드 실행 검증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번의 구조화 출력(분석 · 답 · 가정 · 네가 정할 것 · 위험을 한 호출에)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수 ↓ · 샌드박스 불필요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분석기 호출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규칙 분석 + 답 호출이 보정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역질문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생성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 선택은 로컬 규칙, 문장 다듬기만 1호출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모델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 고르기는 보기 점수(호출 0). 서술형만 1호출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↓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 · 월간 · 미션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작성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전부 집계와 규칙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· 폴백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프롬프트 캐시 · 최근 12개 대화만 · 로컬 답 카드 폴백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토큰 ↓ · 장애에도 끊기지 않음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863840" y="1920240"/>
            <a:ext cx="3886200" cy="1828800"/>
          </a:xfrm>
          <a:prstGeom prst="roundRect">
            <a:avLst>
              <a:gd name="adj" fmla="val 8000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9244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1.3~1.8회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6700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턴의 모델 호출 수 (v3 계획은 4~6회)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턴당 비용은 v3 추정(300~700원)보다 낮다고 보지만 아직 재지 않았다 — usage 기록이 W1의 첫 과제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863840" y="3886200"/>
            <a:ext cx="3886200" cy="2331720"/>
          </a:xfrm>
          <a:prstGeom prst="roundRect">
            <a:avLst>
              <a:gd name="adj" fmla="val 6275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A → B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43434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· 파일럿 20~30명: 답 본문은 최상위 모델 · 기능별 비용 기록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골든셋 턴 500개부터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 · 역질문 · 채점을 질문 은행 + 중형 모델로, 반복 질문 캐시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 · 답 카드 · 개념 카드 RAG (로컬 엔진이 씨앗) → 비용 −60%, 품질 유지</a:t>
            </a:r>
            <a:endParaRPr lang="en-US" sz="9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요금제 확정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비즈니스 모델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3개년 목표 (시나리오)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→ B1 → 요금제 확정 → 확장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192024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1년차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2년차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3년차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파일럿 → B1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 · 요금제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도입 학교 · 기관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250곳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 학생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2만 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8만 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 유료 구독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4,000명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1.5만 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 매출 (추정)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0.6억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9.6억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37억 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355080" y="5029200"/>
            <a:ext cx="5394960" cy="1188720"/>
          </a:xfrm>
          <a:prstGeom prst="roundRect">
            <a:avLst>
              <a:gd name="adj" fmla="val 12308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58368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전제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54406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수치는 이전 판의 공개 자료 기반 추정이며 가격은 가정이다. 초점 시장(프로젝트를 하는 중학생)의 인원은 파일럿 전에 교육통계로 확인해 SOM을 아래에서부터 다시 쌓는다.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시장 진입 전략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한 명이 학교 하나가 되기까지 — 도입 단계도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 구매는 교사 추천으로 움직인다. 넓게가 아니라 한 학급에서 깊게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801368" cy="2377440"/>
          </a:xfrm>
          <a:prstGeom prst="roundRect">
            <a:avLst>
              <a:gd name="adj" fmla="val 8122"/>
            </a:avLst>
          </a:prstGeom>
          <a:solidFill>
            <a:srgbClr val="161630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발견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· 커뮤니티에서 /demo를 본다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0 · "우리 반 주제로도 되나요?"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50008" y="1920240"/>
            <a:ext cx="1801368" cy="2377440"/>
          </a:xfrm>
          <a:prstGeom prst="roundRect">
            <a:avLst>
              <a:gd name="adj" fmla="val 8122"/>
            </a:avLst>
          </a:prstGeom>
          <a:solidFill>
            <a:srgbClr val="161630"/>
          </a:solidFill>
          <a:ln w="9525">
            <a:solidFill>
              <a:srgbClr val="67E8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87168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67E8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체험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87168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없이 · 예산 없이 예시 6개 (로컬 엔진)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487168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0 · 예시를 수업 자료로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42816" y="1920240"/>
            <a:ext cx="1801368" cy="2377440"/>
          </a:xfrm>
          <a:prstGeom prst="roundRect">
            <a:avLst>
              <a:gd name="adj" fmla="val 8122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9976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한 차시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79976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 티키타카로 한 줄 → 8칸 카드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379976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0 · "내 걸로 해 보고 싶다"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35624" y="1920240"/>
            <a:ext cx="1801368" cy="2377440"/>
          </a:xfrm>
          <a:prstGeom prst="roundRect">
            <a:avLst>
              <a:gd name="adj" fmla="val 8122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72784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8차시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학생마다 기획서 한 장 · 첫 리포트 · 발표회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272784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 무료 체험 · 초안 완성률 50%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28432" y="1920240"/>
            <a:ext cx="1801368" cy="2377440"/>
          </a:xfrm>
          <a:prstGeom prst="roundRect">
            <a:avLst>
              <a:gd name="adj" fmla="val 8122"/>
            </a:avLst>
          </a:prstGeom>
          <a:solidFill>
            <a:srgbClr val="161630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65592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학급 · 동아리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65592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학기 운영 · 교사 요약 · 수행평가 기록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165592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 단위 · 동료 교사에게 소개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921240" y="1920240"/>
            <a:ext cx="1801368" cy="2377440"/>
          </a:xfrm>
          <a:prstGeom prst="roundRect">
            <a:avLst>
              <a:gd name="adj" fmla="val 8122"/>
            </a:avLst>
          </a:prstGeom>
          <a:solidFill>
            <a:srgbClr val="1616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0" y="2011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학교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42316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동료 교사 · 다른 교과로, 예산 편성기에 라이선스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33832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학생당 연 과금 · 교육청 · 인근 학교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진입 4단계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D1D3A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4919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0~6개월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학급 파일럿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중학교 동아리 · 자유학기 1~3개 학급 + 특성화고 1개 학급 · 8차시 수업안 · 첫 사례집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91840" y="484632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D1D3A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474720" y="4919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6~12개월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474720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커뮤니티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3474720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연수 · 교사가 만든 예시 시나리오 공개 · 교사 무료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26480" y="484632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D1D3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09360" y="4919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12~24개월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· 기관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기록.md → AI 활용 기록서 · 교육청 · 영재원 · 메이커스페이스 · 요금제 확정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961120" y="4846320"/>
            <a:ext cx="2697480" cy="1371600"/>
          </a:xfrm>
          <a:prstGeom prst="roundRect">
            <a:avLst>
              <a:gd name="adj" fmla="val 10667"/>
            </a:avLst>
          </a:prstGeom>
          <a:solidFill>
            <a:srgbClr val="1D1D3A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44000" y="4919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472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18개월~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144000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학부모 B2C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0" y="5486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요약과 기획서가 학부모에게 · 해외 K-12 검토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실행 로드맵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로드맵과 KPI — 지금 있는 웹에서 출발합니다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설계서 v4 §16의 W0~W4와 맞춘다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9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274320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KPI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· W0 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프로토타입 · 예시 6개 · 로컬 엔진 · Claude API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 3~5명에게 /demo 시연 · 종이판 H0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교사의 "우리 반에서 해보고 싶다" 3명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~4주 · W1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계정(파일럿 코드) · 서버 저장 · 개인정보 감지 · 보호자 동의 · 기능별 비용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파일럿 학급 확정 · 동의 절차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학급이 자기 기기로 이어 쓴다 · 턴당 비용 실측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~8주 · W2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기획서.md 자동 누적 · 역질문 답 → 기획서 한 줄 · AI 활용 기록서 양식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8차시 수업 운영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초안 완성률 50% · 블라인드 선호 60%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~11주 · W3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복기함 모아 보기 · 미션 바꾸기 · 생각 지도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월간 리포트 · 사례 정리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역질문 응답률 65% · 리포트 열람률 70% · 미션 달성률 50%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~16주 · W4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교실 모드 · 교사 요약 · 포트폴리오 PDF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기획서 발표회 · 학교 2~3곳 추가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 "오늘 누구와 이야기할지 알았다" 주 1회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· B1 · B2 · 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절감(골든셋 · 분류기 · RAG) · 에이전트 설계 코칭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요금제 확정 · 교육청/기관 1곳 · B2C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턴당 비용 −60%(품질 유지) · 유료 전환 50%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623560"/>
            <a:ext cx="11247120" cy="640080"/>
          </a:xfrm>
          <a:prstGeom prst="roundRect">
            <a:avLst>
              <a:gd name="adj" fmla="val 22857"/>
            </a:avLst>
          </a:prstGeom>
          <a:solidFill>
            <a:srgbClr val="1A1A3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623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북극성 지표 ·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리포트가 거듭될수록 O3+O4(열린 · 대안 질문) 비율이 오른 학생의 비율   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짝 지표 · 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칸 4/4를 자기 말로 채워 기획서를 내보낸 프로젝트의 비율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검증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돈을 쓰기 전에 확인할 가설 — H0 → H1 → H4 순서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종이로 안 되면 앱도 안 되고, 명세가 답으로 인정받지 못하면 나머지는 시험할 기회가 없다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</a:t>
            </a:r>
            <a:endParaRPr lang="en-US" sz="9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475488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종이로도 된다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 없이 워크시트: 형식 체크 칸 4개 + 규칙 카드 + 질문 2개마다 "순서도로 말하면?"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 지속률 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명세로 주는 답이 더 낫다고 느낀다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범용 챗봇(코드 답)과 블라인드 비교 + 코딩 도구에 붙여 돌려 본 뒤 재평가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선호 60%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되묻기가 다음 질문을 바꾼다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질문이 되묻기에 답하며 시작한 비율 · 직접 잰 값이 들어간 비율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 · "귀찮다" 30% 미만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2문 1역은 잔소리가 아니다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응답/나중에 로그 + 인터뷰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응답률 65% · [나중에] 3연속 10% 미만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BBF2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기획서는 학생의 말로 채워진다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 칸 4/4 비율 · 직전 답과의 유사도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완성률 50% · 유사도 0.55 미만 80%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기획서는 다음 도구의 입력으로 쓰인다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.md 내보낸 학생 추적 · 7차시 관찰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50%가 붙여넣어 돌려 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배지 · 칩은 질문을 바꾼다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노출군 vs 비노출군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O3+O4 비율 유의차 · 칩 → 질문 전환 20%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리포트는 읽히고 미션은 실행된다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발행 후 다음 10문 추적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열람률 70% · 미션 달성률 50%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교사는 기획서 + 요약만으로 평가 · 개입을 결정할 수 있다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 3명 한 학기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"평가 근거로 썼다" 3명 중 2명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다섯 형식은 코딩 밖에서도 통한다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· 리서치 · 캠페인 형식 각 5명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형식별 초안 완성률이 서비스 · 제품과 비슷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H10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학부모는 월간 요약 + 기획서에 지불한다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 요약 → 구독 랜딩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전환율 3%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리스크와 대응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리스크와 대응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재무 리스크는 원가, 가장 가까운 위협은 코딩 도구의 '청소년용 계획 모드'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</a:t>
            </a:r>
            <a:endParaRPr lang="en-US" sz="9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68680"/>
                <a:gridCol w="777240"/>
                <a:gridCol w="649224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가능성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4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학생은 결국 코드를 원한다 — 명세가 답답하다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막지 않는다 · 분명히 요청하면 코드(핵심 20줄) · 7차시에서 "붙여넣으면 바로 나와"를 체험 · 블라인드 비교(H1)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코딩 도구 · 빅테크가 '청소년용 계획 모드'를 넣는다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기능이 아니라 시나리오 · 종단 데이터 · 국내 지침 · 학교 운영 방식으로 방어 · 특정 모델 비종속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기획서를 AI 답 복붙으로 채운다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"네 말로" 안내 · 글자 수 제한 · 직전 답과의 유사도 검사(W1) · 역질문이 같은 칸을 말로 다시 묻는다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원가가 구독가를 넘는다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수를 이미 줄였다 · 비용 기록 → 절감 · 학교용 일 한도 · 로컬 엔진 혼용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되묻기가 두 겹이라 잔소리가 된다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열린 되묻기는 한 줄 · 무시해도 아무 일 없음 · 억지 질문 금지 · [나중에] 3연속이면 3:1 · 4:1 · ⚡ 답만 모드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기기 저장이라 기록이 사라진다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높음(지금)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 서버 저장 전까지는 파일럿을 하지 않는다 · 시연은 .json/.md 내보내기로 백업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청소년 개인정보 · 사진 입력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법정대리인 동의 · 최소 수집 · 학생 소유 · 삭제권 · 개인정보 감지 경고(W1) · 교사는 요약만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답을 주니 결국 의존을 돕는다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북극성 + 짝 지표 + 형태 전진(고르기 → 서술)으로 상시 점검 · 효과 검증 결과 공개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학교 구매 주기가 길다 / 제도가 바뀐다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 / 낮음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/ 높음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A9A6C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교사 무료 → 학급 무료 체험 → 예산 편성기 영업 · 핵심 가치(설계 · 질문 코칭 · 기획서)는 제도와 무관하게 성립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C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61630"/>
          </a:solidFill>
          <a:ln w="9525">
            <a:solidFill>
              <a:srgbClr val="2C2C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457200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34747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필요 자원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자원 (초기 12개월)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898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프로토타입이 있어 첫 과제는 계정 · 서버 저장 · 비용 기록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53212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👩‍💻 제품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560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풀스택 1~2 · AI/프롬프트 엔지니어 1 · 디자이너 0.5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46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높은 곳: 기획서 자동 누적 · 역질문 선택 로직 · Phase B 평가 체계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920240"/>
            <a:ext cx="553212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콘텐츠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5603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작가 · 교육 설계 1 (현직 · 전직 정보 · 기술 교사)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246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형식별 예시 시나리오 확충(논문 · 리서치 · 캠페인) · 질문 은행 검수 · 수업안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53212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🏫 현장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교사 3~5명 (공동 설계자)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자문료 · 사례 공동 발표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4114800"/>
            <a:ext cx="5532120" cy="2057400"/>
          </a:xfrm>
          <a:prstGeom prst="roundRect">
            <a:avLst>
              <a:gd name="adj" fmla="val 7111"/>
            </a:avLst>
          </a:prstGeom>
          <a:solidFill>
            <a:srgbClr val="16163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비용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 + Phase A LLM 예산(실측 후 산정 · v3 추정 400만~1,100만 원보다 낮을 것) + 개인정보 · 보안 자문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지원: 에듀테크 실증 · AI 바우처 · 창업 지원 사업 검토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0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alax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0" y="457200"/>
            <a:ext cx="5943600" cy="5943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>
              <a:alpha val="65000"/>
            </a:srgbClr>
          </a:solidFill>
          <a:ln w="12700">
            <a:solidFill>
              <a:srgbClr val="07071A"/>
            </a:solidFill>
            <a:prstDash val="solid"/>
          </a:ln>
        </p:spPr>
      </p:sp>
      <p:pic>
        <p:nvPicPr>
          <p:cNvPr id="4" name="Image 1" descr="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비용이 '0'에 가까워지는 시대,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역량은 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'무엇을, 왜 만드는가'</a:t>
            </a:r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AskBack이 그 질문을 함께합니다.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4023360" y="4572000"/>
            <a:ext cx="4114800" cy="594360"/>
          </a:xfrm>
          <a:prstGeom prst="roundRect">
            <a:avLst>
              <a:gd name="adj" fmla="val 49231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023360" y="45720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askback-omega.vercel.app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A6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없이 바로 시작 · /demo 로 교실 시연 · /about 소개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제안서의 예시는 앱의 예시 프로젝트와 설명용 장면이며 실제 학생 데이터가 아닙니다 · 시장 수치는 사업계획서 v4 부록의 공개 자료 기반 추정 · 가격은 가정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AskBack · 사업 제안서 · 2026.09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C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AskBack 사업 제안서</dc:title>
  <dc:subject>PptxGenJS Presentation</dc:subject>
  <dc:creator>AskBack</dc:creator>
  <cp:lastModifiedBy>AskBack</cp:lastModifiedBy>
  <cp:revision>1</cp:revision>
  <dcterms:created xsi:type="dcterms:W3CDTF">2026-09-22T04:10:08Z</dcterms:created>
  <dcterms:modified xsi:type="dcterms:W3CDTF">2026-09-22T04:10:08Z</dcterms:modified>
</cp:coreProperties>
</file>